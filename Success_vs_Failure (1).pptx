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4572000" cy="4919472"/>
          </a:xfrm>
          <a:prstGeom prst="rect">
            <a:avLst/>
          </a:prstGeom>
          <a:solidFill>
            <a:srgbClr val="1A2A1A">
              <a:alpha val="60000"/>
            </a:srgbClr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09728"/>
            <a:ext cx="4572000" cy="4919472"/>
          </a:xfrm>
          <a:prstGeom prst="rect">
            <a:avLst/>
          </a:prstGeom>
          <a:solidFill>
            <a:srgbClr val="2A1A1A">
              <a:alpha val="60000"/>
            </a:srgbClr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457200"/>
            <a:ext cx="0" cy="4206240"/>
          </a:xfrm>
          <a:prstGeom prst="line">
            <a:avLst/>
          </a:prstGeom>
          <a:noFill/>
          <a:ln w="31750">
            <a:solidFill>
              <a:srgbClr val="D4A017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005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4CAF50"/>
                </a:solidFill>
              </a:rPr>
              <a:t>SUCCESS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4CAF50"/>
                </a:solidFill>
              </a:rPr>
              <a:t>↑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846320" y="10058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EF5350"/>
                </a:solidFill>
              </a:rPr>
              <a:t>FAILURE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EF5350"/>
                </a:solidFill>
              </a:rPr>
              <a:t>↓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D4A017"/>
                </a:solidFill>
              </a:rPr>
              <a:t>What Separates Them?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0"/>
                </a:solidFill>
              </a:rPr>
              <a:t>A presentation on mindset, habits &amp; the power of choice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Communication Training  |  March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4B"/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017"/>
                </a:solidFill>
              </a:rPr>
              <a:t>OPENING — The Hook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solidFill>
            <a:srgbClr val="1A1F4B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017"/>
                </a:solidFill>
              </a:rPr>
              <a:t>"</a:t>
            </a:r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Success is not final. Failure is not fatal.
It is the courage to continue that counts.
</a:t>
            </a:r>
            <a:pPr indent="0" marL="0">
              <a:buNone/>
            </a:pPr>
            <a:r>
              <a:rPr lang="en-US" sz="1300" i="1" dirty="0">
                <a:solidFill>
                  <a:srgbClr val="F0C842"/>
                </a:solidFill>
              </a:rPr>
              <a:t>— Winston Churchill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" y="2926080"/>
            <a:ext cx="2651760" cy="1463040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971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Have you ever wondered...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2926080"/>
            <a:ext cx="2651760" cy="1463040"/>
          </a:xfrm>
          <a:prstGeom prst="rect">
            <a:avLst/>
          </a:prstGeom>
          <a:solidFill>
            <a:srgbClr val="FFF9C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2971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Why do some people succeed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while others with same talent fail?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926080"/>
            <a:ext cx="2651760" cy="1463040"/>
          </a:xfrm>
          <a:prstGeom prst="rect">
            <a:avLst/>
          </a:prstGeom>
          <a:solidFill>
            <a:srgbClr val="F3E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971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Is success LUCK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63238"/>
                </a:solidFill>
              </a:rPr>
              <a:t>or is it a CHOICE?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1F4B"/>
                </a:solidFill>
              </a:rPr>
              <a:t>Today we answer that question.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D4A017"/>
                </a:solidFill>
              </a:rPr>
              <a:t>THE MAIN 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768096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 w="3175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68680"/>
            <a:ext cx="7589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Success and Failure are NOT about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talent or luck — they are about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DAILY HABITS and MINDSET.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2743200"/>
            <a:ext cx="2651760" cy="164592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Insight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Mindset determines your direction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2743200"/>
            <a:ext cx="2651760" cy="164592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Insight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Habits are the daily choices that build success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743200"/>
            <a:ext cx="2651760" cy="1645920"/>
          </a:xfrm>
          <a:prstGeom prst="rect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Insight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3246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Failure is feedback, not a final verdict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These 3 insights are what we will explore today →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NEED — Why Does This Matter?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651760" cy="1371600"/>
          </a:xfrm>
          <a:prstGeom prst="rect">
            <a:avLst/>
          </a:prstGeom>
          <a:solidFill>
            <a:srgbClr val="1A1F4B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</a:rPr>
              <a:t>90%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startups fail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within 5 years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651760" cy="1371600"/>
          </a:xfrm>
          <a:prstGeom prst="rect">
            <a:avLst/>
          </a:prstGeom>
          <a:solidFill>
            <a:srgbClr val="1A1F4B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</a:rPr>
              <a:t>70%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of people give up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after first failure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651760" cy="1371600"/>
          </a:xfrm>
          <a:prstGeom prst="rect">
            <a:avLst/>
          </a:prstGeom>
          <a:solidFill>
            <a:srgbClr val="1A1F4B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18872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017"/>
                </a:solidFill>
              </a:rPr>
              <a:t>1%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difference between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success &amp; failure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2651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The Real Problem: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" y="306324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</a:rPr>
              <a:t>Most people are NEVER taught what habits lead to success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</a:rPr>
              <a:t>We treat failure as shameful instead of learning from it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</a:rPr>
              <a:t>We compare our chapter 1 with someone else's chapter 20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263238"/>
                </a:solidFill>
              </a:rPr>
              <a:t>We quit when things get hard — right before the breakthrough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1 — Mindset: The Starting Point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❌  Fixed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"I am not smart enough"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Avoids challenges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Gives up easily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Ignores feedback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Threatened by others' success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62828"/>
                </a:solidFill>
              </a:rPr>
              <a:t>Leads to STAGNATION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347472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✅  Growth Mindset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64592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"I can learn anything"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Embraces challenges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Persists through setbacks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Learns from criticism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238"/>
                </a:solidFill>
              </a:rPr>
              <a:t>Inspired by others' success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7D32"/>
                </a:solidFill>
              </a:rPr>
              <a:t>Leads to SUCCESS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731520" cy="731520"/>
          </a:xfrm>
          <a:prstGeom prst="ellipse">
            <a:avLst/>
          </a:prstGeom>
          <a:solidFill>
            <a:srgbClr val="1A1F4B"/>
          </a:solidFill>
          <a:ln w="254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017"/>
                </a:solidFill>
              </a:rPr>
              <a:t>VS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565C0"/>
                </a:solidFill>
              </a:rPr>
              <a:t>Key Takeaway: Your mindset is a CHOICE you make every morning.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INSIGHT 2 — Daily Habits: The Bridge Between Goals &amp; Results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3200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65176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HABIT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❌ UNSUCCESSFUL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Morning routine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Wake up early, plan the day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Start with social media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Reading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Read 30+ min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Haven't read in months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Failures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Learn from them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Hide from them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Goals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Written &amp; reviewed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Vague or non-existent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Attitude to hard work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Embrace the process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63238"/>
                          </a:solidFill>
                        </a:rPr>
                        <a:t>Look for shortcuts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FFF9C4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4531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63238"/>
                </a:solidFill>
              </a:rPr>
              <a:t>💡  "You do not rise to the level of your goals. You fall to the level of your habits." — James Clear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INSIGHT 3 — Failure Is NOT the Opposite of Success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Famous People Who Failed First: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554480"/>
            <a:ext cx="2834640" cy="2286000"/>
          </a:xfrm>
          <a:prstGeom prst="rect">
            <a:avLst/>
          </a:prstGeom>
          <a:solidFill>
            <a:srgbClr val="2D1B4E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J.K. Rowling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2011680"/>
            <a:ext cx="283464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011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DD2"/>
                </a:solidFill>
              </a:rPr>
              <a:t>Harry Potter rejected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CDD2"/>
                </a:solidFill>
              </a:rPr>
              <a:t>by 12 publishers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880360"/>
            <a:ext cx="283464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880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Best-selling author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of all 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834640" cy="2286000"/>
          </a:xfrm>
          <a:prstGeom prst="rect">
            <a:avLst/>
          </a:prstGeom>
          <a:solidFill>
            <a:srgbClr val="2D1B4E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Steve Jobs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2011680"/>
            <a:ext cx="283464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011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4612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DD2"/>
                </a:solidFill>
              </a:rPr>
              <a:t>Fired from Apple,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CDD2"/>
                </a:solidFill>
              </a:rPr>
              <a:t>his own company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2880360"/>
            <a:ext cx="283464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2880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Returned &amp; made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Apple #1 in world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1554480"/>
            <a:ext cx="2834640" cy="2286000"/>
          </a:xfrm>
          <a:prstGeom prst="rect">
            <a:avLst/>
          </a:prstGeom>
          <a:solidFill>
            <a:srgbClr val="2D1B4E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600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017"/>
                </a:solidFill>
              </a:rPr>
              <a:t>Thomas Edison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200" y="2011680"/>
            <a:ext cx="283464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01168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2240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CDD2"/>
                </a:solidFill>
              </a:rPr>
              <a:t>1,000 failed attempts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FCDD2"/>
                </a:solidFill>
              </a:rPr>
              <a:t>for the light bulb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2880360"/>
            <a:ext cx="2834640" cy="2011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880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31089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"I found 1,000 ways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E6C9"/>
                </a:solidFill>
              </a:rPr>
              <a:t>that won't work"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4A148C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</a:rPr>
              <a:t>FAIL = First Attempt In Learning  →  Failure is DATA, not DESTINY.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 — 5 Steps from Failure to Success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53312"/>
            <a:ext cx="621792" cy="6217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Change Your Story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Stop saying 'I can't' — say 'I haven't learned yet'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0058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353312"/>
            <a:ext cx="621792" cy="62179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53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77840" y="12618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Build One Habit at a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66420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Don't change everything. Start with one 5-minute habit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359152"/>
            <a:ext cx="420624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621792" cy="6217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2374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4323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Embrace Failure Early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83464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Fail fast, learn fast. Every mistake = new data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59152"/>
            <a:ext cx="4206240" cy="10058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523744"/>
            <a:ext cx="621792" cy="62179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2374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2432304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Find Your 'Why'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83464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A strong reason pushes you past any obstacle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29584"/>
            <a:ext cx="8595360" cy="10058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94176"/>
            <a:ext cx="621792" cy="62179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94176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360273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</a:rPr>
              <a:t>Be Consistent, Not Perfect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005072"/>
            <a:ext cx="7635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Show up every day. Progress beats perfection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D4A017"/>
                </a:solidFill>
              </a:rPr>
              <a:t>CALL TO ACTION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Choice Is Yours — Starting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560320" cy="2194560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</a:rPr>
              <a:t>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down 1 goal you have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been avoiding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560320" cy="2194560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</a:rPr>
              <a:t>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2651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Pick ONE habit to 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tomorrow morning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560320" cy="2194560"/>
          </a:xfrm>
          <a:prstGeom prst="rect">
            <a:avLst/>
          </a:prstGeom>
          <a:solidFill>
            <a:srgbClr val="FFFFFF">
              <a:alpha val="85000"/>
            </a:srgbClr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54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🚀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017"/>
                </a:solidFill>
              </a:rPr>
              <a:t>SHARE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72200" y="26517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Tell one person your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— accountability works!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017"/>
                </a:solidFill>
              </a:rPr>
              <a:t>"The secret of getting ahead is getting started." — Mark Twain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Thank you for listening! Any 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4B"/>
          </a:solidFill>
          <a:ln w="12700">
            <a:solidFill>
              <a:srgbClr val="1A1F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017"/>
                </a:solidFill>
              </a:rPr>
              <a:t>SUMMARY — The Pyramid of Success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6400800" cy="685800"/>
          </a:xfrm>
          <a:prstGeom prst="rect">
            <a:avLst/>
          </a:prstGeom>
          <a:solidFill>
            <a:srgbClr val="1A1F4B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0515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017"/>
                </a:solidFill>
              </a:rPr>
              <a:t>Main Point: Success = Mindset + Daily Habits + Learning from Failure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solidFill>
            <a:srgbClr val="1565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20240"/>
            <a:ext cx="7680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Insight 1: Mindset is a choice  |  Insight 2: Habits build success  |  Insight 3: Failure = feedback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859536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889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63238"/>
                </a:solidFill>
              </a:rPr>
              <a:t>Evidence &amp; Support: Famous examples (J.K. Rowling, Steve Jobs, Edison) | Research on habits | Daily practice of 5 steps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977640"/>
            <a:ext cx="8595360" cy="7315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A1F4B"/>
                </a:solidFill>
              </a:rPr>
              <a:t>Remember: Every successful person was once where you are. The difference? They didn't stop.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Success vs Failure</dc:title>
  <dc:subject>PptxGenJS Presentation</dc:subject>
  <dc:creator>PptxGenJS</dc:creator>
  <cp:lastModifiedBy>PptxGenJS</cp:lastModifiedBy>
  <cp:revision>1</cp:revision>
  <dcterms:created xsi:type="dcterms:W3CDTF">2026-03-23T12:01:04Z</dcterms:created>
  <dcterms:modified xsi:type="dcterms:W3CDTF">2026-03-23T12:01:04Z</dcterms:modified>
</cp:coreProperties>
</file>