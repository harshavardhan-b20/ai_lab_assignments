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0" y="0"/>
            <a:ext cx="5029200" cy="73152"/>
          </a:xfrm>
          <a:prstGeom prst="rect">
            <a:avLst/>
          </a:prstGeom>
          <a:solidFill>
            <a:srgbClr val="9C6DD4"/>
          </a:solidFill>
          <a:ln w="12700">
            <a:solidFill>
              <a:srgbClr val="9C6D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82296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spc="400" kern="0" dirty="0">
                <a:solidFill>
                  <a:srgbClr val="FFD54F"/>
                </a:solidFill>
              </a:rPr>
              <a:t>SUCCESS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82880" y="146304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FFFFFF"/>
                </a:solidFill>
              </a:rPr>
              <a:t>↑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82880" y="25146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E93D8"/>
                </a:solidFill>
              </a:rPr>
              <a:t>Growth · Habits · Mindset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297680" y="82296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spc="400" kern="0" dirty="0">
                <a:solidFill>
                  <a:srgbClr val="C62828"/>
                </a:solidFill>
              </a:rPr>
              <a:t>FAILURE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297680" y="146304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5C2D91"/>
                </a:solidFill>
              </a:rPr>
              <a:t>↓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4297680" y="25146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6B80"/>
                </a:solidFill>
              </a:rPr>
              <a:t>Stagnation · Excuses · Fear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794760" y="1737360"/>
            <a:ext cx="640080" cy="640080"/>
          </a:xfrm>
          <a:prstGeom prst="ellipse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94760" y="1737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0A2E"/>
                </a:solidFill>
              </a:rPr>
              <a:t>VS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3108960"/>
            <a:ext cx="8595360" cy="1280160"/>
          </a:xfrm>
          <a:prstGeom prst="rect">
            <a:avLst/>
          </a:prstGeom>
          <a:solidFill>
            <a:srgbClr val="EDE7F6"/>
          </a:solidFill>
          <a:ln w="19050">
            <a:solidFill>
              <a:srgbClr val="CE93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3154680"/>
            <a:ext cx="8595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C2D91"/>
                </a:solidFill>
              </a:rPr>
              <a:t>What Separates Them?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74320" y="37490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B80"/>
                </a:solidFill>
              </a:rPr>
              <a:t>A presentation on mindset, habits &amp; the power of choice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6DD4"/>
                </a:solidFill>
              </a:rPr>
              <a:t>Communication Training  |  March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9C6DD4"/>
          </a:solidFill>
          <a:ln w="12700">
            <a:solidFill>
              <a:srgbClr val="9C6D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Two Paths. One Choice.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1463040"/>
          </a:xfrm>
          <a:prstGeom prst="rect">
            <a:avLst/>
          </a:prstGeom>
          <a:solidFill>
            <a:srgbClr val="EDE7F6"/>
          </a:solidFill>
          <a:ln w="19050">
            <a:solidFill>
              <a:srgbClr val="5C2D9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05840"/>
            <a:ext cx="164592" cy="1463040"/>
          </a:xfrm>
          <a:prstGeom prst="rect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05156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1A0A2E"/>
                </a:solidFill>
              </a:rPr>
              <a:t>"Success is not final. Failure is not fatal.</a:t>
            </a:r>
            <a:endParaRPr lang="en-US" sz="1700" dirty="0"/>
          </a:p>
          <a:p>
            <a:pPr indent="0" marL="0">
              <a:buNone/>
            </a:pPr>
            <a:r>
              <a:rPr lang="en-US" sz="1700" i="1" dirty="0">
                <a:solidFill>
                  <a:srgbClr val="1A0A2E"/>
                </a:solidFill>
              </a:rPr>
              <a:t>It is the courage to continue that counts."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208483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2D91"/>
                </a:solidFill>
              </a:rPr>
              <a:t>— Winston Churchill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2514600"/>
            <a:ext cx="2743200" cy="1417320"/>
          </a:xfrm>
          <a:prstGeom prst="rect">
            <a:avLst/>
          </a:prstGeom>
          <a:solidFill>
            <a:srgbClr val="EDE7F6"/>
          </a:solidFill>
          <a:ln w="12700">
            <a:solidFill>
              <a:srgbClr val="9C6D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2514600"/>
            <a:ext cx="2743200" cy="292608"/>
          </a:xfrm>
          <a:prstGeom prst="rect">
            <a:avLst/>
          </a:prstGeom>
          <a:solidFill>
            <a:srgbClr val="7B3FB5"/>
          </a:solidFill>
          <a:ln w="12700">
            <a:solidFill>
              <a:srgbClr val="7B3FB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51460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?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7472" y="2852928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0A2E"/>
                </a:solidFill>
              </a:rPr>
              <a:t>Have you ever wondered why some people succeed while others with the same talent fail?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46120" y="2514600"/>
            <a:ext cx="2743200" cy="1417320"/>
          </a:xfrm>
          <a:prstGeom prst="rect">
            <a:avLst/>
          </a:prstGeom>
          <a:solidFill>
            <a:srgbClr val="EDE7F6"/>
          </a:solidFill>
          <a:ln w="12700">
            <a:solidFill>
              <a:srgbClr val="9C6DD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46120" y="2514600"/>
            <a:ext cx="2743200" cy="292608"/>
          </a:xfrm>
          <a:prstGeom prst="rect">
            <a:avLst/>
          </a:prstGeom>
          <a:solidFill>
            <a:srgbClr val="7B3FB5"/>
          </a:solidFill>
          <a:ln w="12700">
            <a:solidFill>
              <a:srgbClr val="7B3FB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46120" y="251460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💡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319272" y="2852928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0A2E"/>
                </a:solidFill>
              </a:rPr>
              <a:t>Is success really about luck — or is it a daily choice you make?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17920" y="2514600"/>
            <a:ext cx="2743200" cy="1417320"/>
          </a:xfrm>
          <a:prstGeom prst="rect">
            <a:avLst/>
          </a:prstGeom>
          <a:solidFill>
            <a:srgbClr val="EDE7F6"/>
          </a:solidFill>
          <a:ln w="12700">
            <a:solidFill>
              <a:srgbClr val="9C6DD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2514600"/>
            <a:ext cx="2743200" cy="292608"/>
          </a:xfrm>
          <a:prstGeom prst="rect">
            <a:avLst/>
          </a:prstGeom>
          <a:solidFill>
            <a:srgbClr val="7B3FB5"/>
          </a:solidFill>
          <a:ln w="12700">
            <a:solidFill>
              <a:srgbClr val="7B3FB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251460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🔑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91072" y="2852928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0A2E"/>
                </a:solidFill>
              </a:rPr>
              <a:t>What separates someone who gives up from someone who never stops?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EDE7F6"/>
          </a:solidFill>
          <a:ln w="12700">
            <a:solidFill>
              <a:srgbClr val="EDE7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983480"/>
            <a:ext cx="841248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2D91"/>
                </a:solidFill>
              </a:rPr>
              <a:t>Today we answer that question — and give you tools to act on it.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9C6DD4"/>
          </a:solidFill>
          <a:ln w="12700">
            <a:solidFill>
              <a:srgbClr val="9C6D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The Main Point — Lead With the Answer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1508760"/>
          </a:xfrm>
          <a:prstGeom prst="rect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8229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Success and Failure are NOT about talent or luck.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They are about DAILY HABITS and MINDSET.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2651760"/>
            <a:ext cx="2606040" cy="1920240"/>
          </a:xfrm>
          <a:prstGeom prst="rect">
            <a:avLst/>
          </a:prstGeom>
          <a:solidFill>
            <a:srgbClr val="EDE7F6"/>
          </a:solidFill>
          <a:ln w="12700">
            <a:solidFill>
              <a:srgbClr val="9C6D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2651760"/>
            <a:ext cx="2606040" cy="457200"/>
          </a:xfrm>
          <a:prstGeom prst="rect">
            <a:avLst/>
          </a:prstGeom>
          <a:solidFill>
            <a:srgbClr val="7B3FB5"/>
          </a:solidFill>
          <a:ln w="12700">
            <a:solidFill>
              <a:srgbClr val="7B3FB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65176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Insight 01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320040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2D91"/>
                </a:solidFill>
              </a:rPr>
              <a:t>Mindset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11480" y="365760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0A2E"/>
                </a:solidFill>
              </a:rPr>
              <a:t>Mindset determines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A0A2E"/>
                </a:solidFill>
              </a:rPr>
              <a:t>your direction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00400" y="2651760"/>
            <a:ext cx="2606040" cy="1920240"/>
          </a:xfrm>
          <a:prstGeom prst="rect">
            <a:avLst/>
          </a:prstGeom>
          <a:solidFill>
            <a:srgbClr val="EDE7F6"/>
          </a:solidFill>
          <a:ln w="12700">
            <a:solidFill>
              <a:srgbClr val="9C6D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2651760"/>
            <a:ext cx="2606040" cy="457200"/>
          </a:xfrm>
          <a:prstGeom prst="rect">
            <a:avLst/>
          </a:prstGeom>
          <a:solidFill>
            <a:srgbClr val="7B3FB5"/>
          </a:solidFill>
          <a:ln w="12700">
            <a:solidFill>
              <a:srgbClr val="7B3FB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0" y="265176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Insight 02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46120" y="320040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2D91"/>
                </a:solidFill>
              </a:rPr>
              <a:t>Habits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246120" y="365760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0A2E"/>
                </a:solidFill>
              </a:rPr>
              <a:t>Daily habits build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A0A2E"/>
                </a:solidFill>
              </a:rPr>
              <a:t>or break success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35040" y="2651760"/>
            <a:ext cx="2606040" cy="1920240"/>
          </a:xfrm>
          <a:prstGeom prst="rect">
            <a:avLst/>
          </a:prstGeom>
          <a:solidFill>
            <a:srgbClr val="EDE7F6"/>
          </a:solidFill>
          <a:ln w="12700">
            <a:solidFill>
              <a:srgbClr val="9C6DD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35040" y="2651760"/>
            <a:ext cx="2606040" cy="457200"/>
          </a:xfrm>
          <a:prstGeom prst="rect">
            <a:avLst/>
          </a:prstGeom>
          <a:solidFill>
            <a:srgbClr val="7B3FB5"/>
          </a:solidFill>
          <a:ln w="12700">
            <a:solidFill>
              <a:srgbClr val="7B3FB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35040" y="265176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Insight 03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080760" y="320040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2D91"/>
                </a:solidFill>
              </a:rPr>
              <a:t>Failure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080760" y="3657600"/>
            <a:ext cx="2514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0A2E"/>
                </a:solidFill>
              </a:rPr>
              <a:t>Failure is feedback,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A0A2E"/>
                </a:solidFill>
              </a:rPr>
              <a:t>not a final verdict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EDE7F6"/>
          </a:solidFill>
          <a:ln w="12700">
            <a:solidFill>
              <a:srgbClr val="EDE7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983480"/>
            <a:ext cx="841248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2D91"/>
                </a:solidFill>
              </a:rPr>
              <a:t>These 3 insights will be explored and backed with evidence.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9C6DD4"/>
          </a:solidFill>
          <a:ln w="12700">
            <a:solidFill>
              <a:srgbClr val="9C6D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Need — Why Does This Matter?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2651760" cy="1417320"/>
          </a:xfrm>
          <a:prstGeom prst="rect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0584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D54F"/>
                </a:solidFill>
              </a:rPr>
              <a:t>90%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320040" y="181051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of startups fail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within 5 years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960120"/>
            <a:ext cx="2651760" cy="1417320"/>
          </a:xfrm>
          <a:prstGeom prst="rect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0" y="100584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D54F"/>
                </a:solidFill>
              </a:rPr>
              <a:t>70%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200400" y="181051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of people quit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after first failure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80760" y="960120"/>
            <a:ext cx="2651760" cy="1417320"/>
          </a:xfrm>
          <a:prstGeom prst="rect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80760" y="100584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D54F"/>
                </a:solidFill>
              </a:rPr>
              <a:t>1%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6080760" y="181051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daily difference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between success &amp; failure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514600"/>
            <a:ext cx="8503920" cy="347472"/>
          </a:xfrm>
          <a:prstGeom prst="rect">
            <a:avLst/>
          </a:prstGeom>
          <a:solidFill>
            <a:srgbClr val="EDE7F6"/>
          </a:solidFill>
          <a:ln w="12700">
            <a:solidFill>
              <a:srgbClr val="9C6D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51460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2D91"/>
                </a:solidFill>
              </a:rPr>
              <a:t>The Real Problem: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11480" y="2926080"/>
            <a:ext cx="8321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0A2E"/>
                </a:solidFill>
              </a:rPr>
              <a:t>Most people are NEVER taught what habits lead to success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0A2E"/>
                </a:solidFill>
              </a:rPr>
              <a:t>We treat failure as shameful instead of a learning opportunity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0A2E"/>
                </a:solidFill>
              </a:rPr>
              <a:t>We compare our chapter 1 with someone else's chapter 20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A0A2E"/>
                </a:solidFill>
              </a:rPr>
              <a:t>We quit when things get hard — right before the breakthrough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EDE7F6"/>
          </a:solidFill>
          <a:ln w="12700">
            <a:solidFill>
              <a:srgbClr val="EDE7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4983480"/>
            <a:ext cx="841248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2D91"/>
                </a:solidFill>
              </a:rPr>
              <a:t>Understanding the problem is the first step to solving it.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9C6DD4"/>
          </a:solidFill>
          <a:ln w="12700">
            <a:solidFill>
              <a:srgbClr val="9C6D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Insight 1 — Mindset: The Starting Point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069080" cy="41148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60120"/>
            <a:ext cx="4069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❌  Fixed Mindset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00600" y="960120"/>
            <a:ext cx="4069080" cy="4114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0600" y="960120"/>
            <a:ext cx="4069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✅  Growth Mindset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4320" y="1371600"/>
            <a:ext cx="4069080" cy="3200400"/>
          </a:xfrm>
          <a:prstGeom prst="rect">
            <a:avLst/>
          </a:prstGeom>
          <a:solidFill>
            <a:srgbClr val="EDE7F6"/>
          </a:solidFill>
          <a:ln w="12700">
            <a:solidFill>
              <a:srgbClr val="9C6D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00600" y="1371600"/>
            <a:ext cx="4069080" cy="3200400"/>
          </a:xfrm>
          <a:prstGeom prst="rect">
            <a:avLst/>
          </a:prstGeom>
          <a:solidFill>
            <a:srgbClr val="EDE7F6"/>
          </a:solidFill>
          <a:ln w="12700">
            <a:solidFill>
              <a:srgbClr val="9C6D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463040"/>
            <a:ext cx="37947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rgbClr val="5C2D91"/>
                </a:solidFill>
              </a:rPr>
              <a:t>"I am not smart enough"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0A2E"/>
                </a:solidFill>
              </a:rPr>
              <a:t>Avoids challenges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0A2E"/>
                </a:solidFill>
              </a:rPr>
              <a:t>Gives up easily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0A2E"/>
                </a:solidFill>
              </a:rPr>
              <a:t>Ignores feedback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0A2E"/>
                </a:solidFill>
              </a:rPr>
              <a:t>Threatened by others' success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3931920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62828"/>
                </a:solidFill>
              </a:rPr>
              <a:t>→ Leads to STAGNATION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1463040"/>
            <a:ext cx="37947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b="1" dirty="0">
                <a:solidFill>
                  <a:srgbClr val="5C2D91"/>
                </a:solidFill>
              </a:rPr>
              <a:t>"I can learn anything"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0A2E"/>
                </a:solidFill>
              </a:rPr>
              <a:t>Embraces challenges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0A2E"/>
                </a:solidFill>
              </a:rPr>
              <a:t>Persists through setbacks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0A2E"/>
                </a:solidFill>
              </a:rPr>
              <a:t>Learns from criticism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0A2E"/>
                </a:solidFill>
              </a:rPr>
              <a:t>Inspired by others' success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37760" y="3931920"/>
            <a:ext cx="3794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</a:rPr>
              <a:t>→ Leads to SUCCESS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206240" y="2331720"/>
            <a:ext cx="731520" cy="731520"/>
          </a:xfrm>
          <a:prstGeom prst="ellipse">
            <a:avLst/>
          </a:prstGeom>
          <a:solidFill>
            <a:srgbClr val="5C2D91"/>
          </a:solidFill>
          <a:ln w="25400">
            <a:solidFill>
              <a:srgbClr val="FFD54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06240" y="23317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54F"/>
                </a:solidFill>
              </a:rPr>
              <a:t>VS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EDE7F6"/>
          </a:solidFill>
          <a:ln w="12700">
            <a:solidFill>
              <a:srgbClr val="EDE7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4983480"/>
            <a:ext cx="841248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2D91"/>
                </a:solidFill>
              </a:rPr>
              <a:t>Key Takeaway: Your mindset is a CHOICE you make every morning.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9C6DD4"/>
          </a:solidFill>
          <a:ln w="12700">
            <a:solidFill>
              <a:srgbClr val="9C6D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Insight 2 — Daily Habits: The Bridge Between Goals &amp; Results</a:t>
            </a:r>
            <a:endParaRPr lang="en-US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960120"/>
          <a:ext cx="8503920" cy="3474720"/>
        </p:xfrm>
        <a:graphic>
          <a:graphicData uri="http://schemas.openxmlformats.org/drawingml/2006/table">
            <a:tbl>
              <a:tblPr/>
              <a:tblGrid>
                <a:gridCol w="2926080"/>
                <a:gridCol w="2788920"/>
                <a:gridCol w="2788920"/>
              </a:tblGrid>
              <a:tr h="5791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HABIT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2D9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✅  SUCCESSFUL PEOPLE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❌  UNSUCCESSFUL PEOPLE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0A2E"/>
                          </a:solidFill>
                        </a:rPr>
                        <a:t>Morning Routine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0A2E"/>
                          </a:solidFill>
                        </a:rPr>
                        <a:t>Wake up early, plan the day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0A2E"/>
                          </a:solidFill>
                        </a:rPr>
                        <a:t>Start with social media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0A2E"/>
                          </a:solidFill>
                        </a:rPr>
                        <a:t>Reading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0A2E"/>
                          </a:solidFill>
                        </a:rPr>
                        <a:t>Read 30+ min daily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0A2E"/>
                          </a:solidFill>
                        </a:rPr>
                        <a:t>Haven't read in months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0A2E"/>
                          </a:solidFill>
                        </a:rPr>
                        <a:t>Handling Failure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0A2E"/>
                          </a:solidFill>
                        </a:rPr>
                        <a:t>Learn from it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0A2E"/>
                          </a:solidFill>
                        </a:rPr>
                        <a:t>Hide from it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0A2E"/>
                          </a:solidFill>
                        </a:rPr>
                        <a:t>Goals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0A2E"/>
                          </a:solidFill>
                        </a:rPr>
                        <a:t>Written &amp; reviewed daily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0A2E"/>
                          </a:solidFill>
                        </a:rPr>
                        <a:t>Vague or non-existent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0A2E"/>
                          </a:solidFill>
                        </a:rPr>
                        <a:t>Hard Work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0A2E"/>
                          </a:solidFill>
                        </a:rPr>
                        <a:t>Embrace the process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A0A2E"/>
                          </a:solidFill>
                        </a:rPr>
                        <a:t>Look for shortcuts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C4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20040" y="4572000"/>
            <a:ext cx="8503920" cy="347472"/>
          </a:xfrm>
          <a:prstGeom prst="rect">
            <a:avLst/>
          </a:prstGeom>
          <a:solidFill>
            <a:srgbClr val="EDE7F6"/>
          </a:solidFill>
          <a:ln w="12700">
            <a:solidFill>
              <a:srgbClr val="9C6DD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4590288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2D91"/>
                </a:solidFill>
              </a:rPr>
              <a:t>💡  "You do not rise to the level of your goals. You fall to the level of your habits." — James Clear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9C6DD4"/>
          </a:solidFill>
          <a:ln w="12700">
            <a:solidFill>
              <a:srgbClr val="9C6D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Insight 3 — Failure Is NOT the Opposite of Success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2D91"/>
                </a:solidFill>
              </a:rPr>
              <a:t>Famous People Who Failed First: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325880"/>
            <a:ext cx="2788920" cy="2651760"/>
          </a:xfrm>
          <a:prstGeom prst="rect">
            <a:avLst/>
          </a:prstGeom>
          <a:solidFill>
            <a:srgbClr val="EDE7F6"/>
          </a:solidFill>
          <a:ln w="12700">
            <a:solidFill>
              <a:srgbClr val="9C6D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325880"/>
            <a:ext cx="2788920" cy="384048"/>
          </a:xfrm>
          <a:prstGeom prst="rect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325880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J.K. Rowling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4320" y="1709928"/>
            <a:ext cx="2788920" cy="25603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709928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FAILURE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1993392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A0A2E"/>
                </a:solidFill>
              </a:rPr>
              <a:t>Harry Potter rejected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1A0A2E"/>
                </a:solidFill>
              </a:rPr>
              <a:t>by 12 publishers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2715768"/>
            <a:ext cx="2788920" cy="2560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715768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SUCCESS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2999232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0A2E"/>
                </a:solidFill>
              </a:rPr>
              <a:t>Best-selling author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0A2E"/>
                </a:solidFill>
              </a:rPr>
              <a:t>of all time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46120" y="1325880"/>
            <a:ext cx="2788920" cy="2651760"/>
          </a:xfrm>
          <a:prstGeom prst="rect">
            <a:avLst/>
          </a:prstGeom>
          <a:solidFill>
            <a:srgbClr val="EDE7F6"/>
          </a:solidFill>
          <a:ln w="12700">
            <a:solidFill>
              <a:srgbClr val="9C6DD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46120" y="1325880"/>
            <a:ext cx="2788920" cy="384048"/>
          </a:xfrm>
          <a:prstGeom prst="rect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0" y="1325880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Steve Jobs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246120" y="1709928"/>
            <a:ext cx="2788920" cy="25603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91840" y="1709928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FAILURE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37560" y="1993392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A0A2E"/>
                </a:solidFill>
              </a:rPr>
              <a:t>Fired from Apple,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1A0A2E"/>
                </a:solidFill>
              </a:rPr>
              <a:t>his own company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46120" y="2715768"/>
            <a:ext cx="2788920" cy="2560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91840" y="2715768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SUCCESS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37560" y="2999232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0A2E"/>
                </a:solidFill>
              </a:rPr>
              <a:t>Returned &amp; made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0A2E"/>
                </a:solidFill>
              </a:rPr>
              <a:t>Apple #1 in the world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17920" y="1325880"/>
            <a:ext cx="2788920" cy="2651760"/>
          </a:xfrm>
          <a:prstGeom prst="rect">
            <a:avLst/>
          </a:prstGeom>
          <a:solidFill>
            <a:srgbClr val="EDE7F6"/>
          </a:solidFill>
          <a:ln w="12700">
            <a:solidFill>
              <a:srgbClr val="9C6DD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17920" y="1325880"/>
            <a:ext cx="2788920" cy="384048"/>
          </a:xfrm>
          <a:prstGeom prst="rect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63640" y="1325880"/>
            <a:ext cx="2697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Thomas Edison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217920" y="1709928"/>
            <a:ext cx="2788920" cy="25603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63640" y="1709928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FAILURE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309360" y="1993392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A0A2E"/>
                </a:solidFill>
              </a:rPr>
              <a:t>1,000 failed attempts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1A0A2E"/>
                </a:solidFill>
              </a:rPr>
              <a:t>for the light bulb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217920" y="2715768"/>
            <a:ext cx="2788920" cy="2560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63640" y="2715768"/>
            <a:ext cx="2697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SUCCESS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309360" y="2999232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0A2E"/>
                </a:solidFill>
              </a:rPr>
              <a:t>"I found 1,000 ways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A0A2E"/>
                </a:solidFill>
              </a:rPr>
              <a:t>that won't work"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20040" y="4114800"/>
            <a:ext cx="8503920" cy="548640"/>
          </a:xfrm>
          <a:prstGeom prst="rect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11480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D54F"/>
                </a:solidFill>
              </a:rPr>
              <a:t>FAIL = First Attempt In Learning  →  Failure is DATA, not DESTINY.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EDE7F6"/>
          </a:solidFill>
          <a:ln w="12700">
            <a:solidFill>
              <a:srgbClr val="EDE7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983480"/>
            <a:ext cx="841248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2D91"/>
                </a:solidFill>
              </a:rPr>
              <a:t>Every master was once a disaster. Keep going.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9C6DD4"/>
          </a:solidFill>
          <a:ln w="12700">
            <a:solidFill>
              <a:srgbClr val="9C6D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Solution — 5 Steps from Failure to Success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206240" cy="1005840"/>
          </a:xfrm>
          <a:prstGeom prst="rect">
            <a:avLst/>
          </a:prstGeom>
          <a:solidFill>
            <a:srgbClr val="EDE7F6"/>
          </a:solidFill>
          <a:ln w="12700">
            <a:solidFill>
              <a:srgbClr val="9C6D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1170432"/>
            <a:ext cx="621792" cy="621792"/>
          </a:xfrm>
          <a:prstGeom prst="ellipse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170432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15568" y="10972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2D91"/>
                </a:solidFill>
              </a:rPr>
              <a:t>Change Your Story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15568" y="148132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80"/>
                </a:solidFill>
              </a:rPr>
              <a:t>Stop saying 'I can't' — say 'I haven't learned yet'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005840"/>
            <a:ext cx="4206240" cy="1005840"/>
          </a:xfrm>
          <a:prstGeom prst="rect">
            <a:avLst/>
          </a:prstGeom>
          <a:solidFill>
            <a:srgbClr val="EDE7F6"/>
          </a:solidFill>
          <a:ln w="12700">
            <a:solidFill>
              <a:srgbClr val="9C6DD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64608" y="1170432"/>
            <a:ext cx="621792" cy="621792"/>
          </a:xfrm>
          <a:prstGeom prst="ellipse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64608" y="1170432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596128" y="10972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2D91"/>
                </a:solidFill>
              </a:rPr>
              <a:t>Build One Habit at a Time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596128" y="148132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80"/>
                </a:solidFill>
              </a:rPr>
              <a:t>Don't change everything. Start with one 5-minute habit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148840"/>
            <a:ext cx="4206240" cy="1005840"/>
          </a:xfrm>
          <a:prstGeom prst="rect">
            <a:avLst/>
          </a:prstGeom>
          <a:solidFill>
            <a:srgbClr val="EDE7F6"/>
          </a:solidFill>
          <a:ln w="12700">
            <a:solidFill>
              <a:srgbClr val="9C6DD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4048" y="2313432"/>
            <a:ext cx="621792" cy="621792"/>
          </a:xfrm>
          <a:prstGeom prst="ellipse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2313432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15568" y="22402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2D91"/>
                </a:solidFill>
              </a:rPr>
              <a:t>Embrace Failure Early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15568" y="262432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80"/>
                </a:solidFill>
              </a:rPr>
              <a:t>Fail fast, learn fast. Every mistake = new data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2148840"/>
            <a:ext cx="4206240" cy="1005840"/>
          </a:xfrm>
          <a:prstGeom prst="rect">
            <a:avLst/>
          </a:prstGeom>
          <a:solidFill>
            <a:srgbClr val="EDE7F6"/>
          </a:solidFill>
          <a:ln w="12700">
            <a:solidFill>
              <a:srgbClr val="9C6D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64608" y="2313432"/>
            <a:ext cx="621792" cy="621792"/>
          </a:xfrm>
          <a:prstGeom prst="ellipse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64608" y="2313432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596128" y="22402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2D91"/>
                </a:solidFill>
              </a:rPr>
              <a:t>Find Your 'Why'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596128" y="262432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80"/>
                </a:solidFill>
              </a:rPr>
              <a:t>A strong reason pushes you past any obstacle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3291840"/>
            <a:ext cx="8595360" cy="1005840"/>
          </a:xfrm>
          <a:prstGeom prst="rect">
            <a:avLst/>
          </a:prstGeom>
          <a:solidFill>
            <a:srgbClr val="EDE7F6"/>
          </a:solidFill>
          <a:ln w="12700">
            <a:solidFill>
              <a:srgbClr val="9C6DD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4048" y="3456432"/>
            <a:ext cx="621792" cy="621792"/>
          </a:xfrm>
          <a:prstGeom prst="ellipse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" y="3456432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15568" y="3383280"/>
            <a:ext cx="7589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2D91"/>
                </a:solidFill>
              </a:rPr>
              <a:t>Be Consistent, Not Perfect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115568" y="3767328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80"/>
                </a:solidFill>
              </a:rPr>
              <a:t>Show up every day. Progress beats perfection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EDE7F6"/>
          </a:solidFill>
          <a:ln w="12700">
            <a:solidFill>
              <a:srgbClr val="EDE7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983480"/>
            <a:ext cx="841248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2D91"/>
                </a:solidFill>
              </a:rPr>
              <a:t>Small steps daily lead to extraordinary results over time.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5C2D9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spc="500" kern="0" dirty="0">
                <a:solidFill>
                  <a:srgbClr val="CE93D8"/>
                </a:solidFill>
              </a:rPr>
              <a:t>CALL TO ACTION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The Choice Is Yours — Starting TODAY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11480" y="1325880"/>
            <a:ext cx="2606040" cy="2331720"/>
          </a:xfrm>
          <a:prstGeom prst="rect">
            <a:avLst/>
          </a:prstGeom>
          <a:solidFill>
            <a:srgbClr val="7B3FB5"/>
          </a:solidFill>
          <a:ln w="19050">
            <a:solidFill>
              <a:srgbClr val="CE93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41732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📔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11480" y="214884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54F"/>
                </a:solidFill>
              </a:rPr>
              <a:t>WRITE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2560320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Write down 1 goal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you have been avoiding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46120" y="1325880"/>
            <a:ext cx="2606040" cy="2331720"/>
          </a:xfrm>
          <a:prstGeom prst="rect">
            <a:avLst/>
          </a:prstGeom>
          <a:solidFill>
            <a:srgbClr val="7B3FB5"/>
          </a:solidFill>
          <a:ln w="19050">
            <a:solidFill>
              <a:srgbClr val="CE93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141732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🔁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246120" y="214884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54F"/>
                </a:solidFill>
              </a:rPr>
              <a:t>COMMIT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291840" y="2560320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Pick ONE habit to start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tomorrow morning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80760" y="1325880"/>
            <a:ext cx="2606040" cy="2331720"/>
          </a:xfrm>
          <a:prstGeom prst="rect">
            <a:avLst/>
          </a:prstGeom>
          <a:solidFill>
            <a:srgbClr val="7B3FB5"/>
          </a:solidFill>
          <a:ln w="19050">
            <a:solidFill>
              <a:srgbClr val="CE93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80760" y="1417320"/>
            <a:ext cx="2606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🚀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080760" y="2148840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D54F"/>
                </a:solidFill>
              </a:rPr>
              <a:t>SHARE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126480" y="2560320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Tell one person your goal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— accountability works!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11480" y="3794760"/>
            <a:ext cx="8321040" cy="685800"/>
          </a:xfrm>
          <a:prstGeom prst="rect">
            <a:avLst/>
          </a:prstGeom>
          <a:solidFill>
            <a:srgbClr val="EDE7F6"/>
          </a:solidFill>
          <a:ln w="12700">
            <a:solidFill>
              <a:srgbClr val="CE93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822192"/>
            <a:ext cx="8138160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C2D91"/>
                </a:solidFill>
              </a:rPr>
              <a:t>"The secret of getting ahead is getting started." — Mark Twain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46817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E93D8"/>
                </a:solidFill>
              </a:rPr>
              <a:t>Thank you for listening!  Any questions?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9C6DD4"/>
          </a:solidFill>
          <a:ln w="12700">
            <a:solidFill>
              <a:srgbClr val="9C6D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321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Summary — The Pyramid of Success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645920" y="960120"/>
            <a:ext cx="5852160" cy="658368"/>
          </a:xfrm>
          <a:prstGeom prst="rect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91640" y="960120"/>
            <a:ext cx="5760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Main Point: Success = Mindset + Daily Habits + Learning from Failure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2960" y="1719072"/>
            <a:ext cx="7498080" cy="658368"/>
          </a:xfrm>
          <a:prstGeom prst="rect">
            <a:avLst/>
          </a:prstGeom>
          <a:solidFill>
            <a:srgbClr val="7B3FB5"/>
          </a:solidFill>
          <a:ln w="12700">
            <a:solidFill>
              <a:srgbClr val="7B3F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719072"/>
            <a:ext cx="7406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Insight 1: Mindset is a choice  |  Insight 2: Habits build success  |  Insight 3: Failure = feedback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2478024"/>
            <a:ext cx="8595360" cy="777240"/>
          </a:xfrm>
          <a:prstGeom prst="rect">
            <a:avLst/>
          </a:prstGeom>
          <a:solidFill>
            <a:srgbClr val="EDE7F6"/>
          </a:solidFill>
          <a:ln w="12700">
            <a:solidFill>
              <a:srgbClr val="9C6D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478024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0A2E"/>
                </a:solidFill>
              </a:rPr>
              <a:t>Evidence: J.K. Rowling, Steve Jobs, Thomas Edison  |  James Clear on habits  |  5 daily action steps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3383280"/>
            <a:ext cx="8595360" cy="960120"/>
          </a:xfrm>
          <a:prstGeom prst="rect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3401568"/>
            <a:ext cx="8412480" cy="9235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FFFFFF"/>
                </a:solidFill>
              </a:rPr>
              <a:t>"Every successful person was once where you are.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i="1" dirty="0">
                <a:solidFill>
                  <a:srgbClr val="FFFFFF"/>
                </a:solidFill>
              </a:rPr>
              <a:t>The difference? They didn't stop."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EDE7F6"/>
          </a:solidFill>
          <a:ln w="12700">
            <a:solidFill>
              <a:srgbClr val="EDE7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4983480"/>
            <a:ext cx="841248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2D91"/>
                </a:solidFill>
              </a:rPr>
              <a:t>Communication Training  |  March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Success vs Failure</dc:title>
  <dc:subject>PptxGenJS Presentation</dc:subject>
  <dc:creator>PptxGenJS</dc:creator>
  <cp:lastModifiedBy>PptxGenJS</cp:lastModifiedBy>
  <cp:revision>1</cp:revision>
  <dcterms:created xsi:type="dcterms:W3CDTF">2026-03-23T12:16:23Z</dcterms:created>
  <dcterms:modified xsi:type="dcterms:W3CDTF">2026-03-23T12:16:23Z</dcterms:modified>
</cp:coreProperties>
</file>